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Call Center Analytics and Workforce Optimization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20000" y="940000"/>
            <a:ext cx="12000000" cy="3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1750" dirty="0">
                <a:solidFill>
                  <a:srgbClr val="dc2626"/>
                </a:solidFill>
                <a:latin typeface="Aptos"/>
                <a:cs typeface="Aptos"/>
              </a:rPr>
              <a:t>Магістерський інженерний проєкт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47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City service contact center analytics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SQL Server warehouse, Streamlit dashboard, forecasting, Erlang C, OR-Tools scheduling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Public NYC 311 demand data plus documented synthetic operational metadata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620000" y="6520000"/>
            <a:ext cx="12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1450" dirty="0">
                <a:solidFill>
                  <a:srgbClr val="6b7280"/>
                </a:solidFill>
                <a:latin typeface="Aptos"/>
                <a:cs typeface="Aptos"/>
              </a:rPr>
              <a:t>Denys Vartsab | Master of Science in Data Science | 2026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Проблема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Попит у contact center змінюється за часом доби, днем тижня, сезоном і категорією звернення.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Недостатній staffing знижує service level і збільшує abandonment.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Надмірний staffing створює зайві labor costs.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Потрібне interval-level planning, а не тільки історичний dashboard.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Мета продукту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Побудувати end-to-end analytical product для workforce planning.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Перетворити public-service demand data на forecast, staffing requirements і schedule.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Зробити pipeline прозорим: data, SQL, model comparison, Erlang C, optimizer, dashboard.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Показати не black-box WFM, а відтворювану engineering implementation.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Дані та synthetic enrichment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NYC 311 Service Requests, 2023-01-01 to 2025-12-31.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10,336,480 source records loaded into SQL Server.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Public data provides real demand pattern, complaint type, borough, status and timestamps.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Call-center fields such as AHT, hold time, ACW, abandonment, SLA and agent assignment are generated and documented.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Архітектура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NYC 311 public data -&gt; SQL raw landing table.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Raw table -&gt; synthetic call-center warehouse.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Warehouse -&gt; SQL views -&gt; Streamlit dashboard.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Forecasting -&gt; Erlang C staffing -&gt; OR-Tools schedule optimizer.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The product mirrors enterprise WFM flow, but keeps every step inspectable.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SQL Server warehouse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Fact_Calls: 10,336,480 simulated calls.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Dim_Date: 1,096 dates; Dim_Time: 48 half-hour intervals.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Dim_Queue: 217 queues; Dim_Agent: 160 synthetic agents.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Dashboard-ready views validate offered, answered and abandoned calls.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Dashboard overview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5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Executive KPIs over full 2023-2025 history.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Service category filtering and operational summary.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SQL-backed analytics with CSV fallback for local demo mode.</a:t>
            </a:r>
          </a:p>
        </p:txBody>
      </p:sp>
      <p:pic>
        <p:nvPicPr>
          <p:cNvPr id="10" name="01_executive_summar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50000" y="1685000"/>
            <a:ext cx="5760000" cy="4320000"/>
          </a:xfrm>
          <a:prstGeom prst="rect">
            <a:avLst/>
          </a:prstGeom>
        </p:spPr>
      </p:pic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Forecasting and model comparison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5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Forecast target: 30-minute call volume.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Features: time cycles, calendar fields, weekend, US federal holidays, previous-week lag.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Selected model: histogram gradient boosting.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Holdout metrics: MAE 34.8872, RMSE 49.7414, MAPE 22.16%.</a:t>
            </a:r>
          </a:p>
        </p:txBody>
      </p:sp>
      <p:pic>
        <p:nvPicPr>
          <p:cNvPr id="10" name="03_forecasting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50000" y="1685000"/>
            <a:ext cx="5760000" cy="4320000"/>
          </a:xfrm>
          <a:prstGeom prst="rect">
            <a:avLst/>
          </a:prstGeom>
        </p:spPr>
      </p:pic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Model-aware planning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Forecasting models are registered, not hardcoded.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Current models: histogram gradient boosting, random forest, gradient boosting, ridge, Poisson.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Dashboard can compare holdout predictions and future planning scenarios.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Planning pipeline supports model selection: .\scripts\run_planning_pipeline.ps1 -Model random_forest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Staffing with Erlang C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5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Forecasted calls and AHT are converted into required agents.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Target service level: 80% answered within 20 seconds.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Max occupancy: 85%; shrinkage: 30%.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Peak shrinkage-adjusted requirement for January 2026: 189 agents.</a:t>
            </a:r>
          </a:p>
        </p:txBody>
      </p:sp>
      <p:pic>
        <p:nvPicPr>
          <p:cNvPr id="10" name="04_staffing_requirement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50000" y="1685000"/>
            <a:ext cx="5760000" cy="4320000"/>
          </a:xfrm>
          <a:prstGeom prst="rect">
            <a:avLst/>
          </a:prstGeom>
        </p:spPr>
      </p:pic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Schedule optimization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5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OR-Tools CP-SAT creates a legal future roster.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160-agent planning pool, 8-hour shifts, 30-minute break.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Rules: one shift per day, max 5 shifts per week, 11-hour minimum rest.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Planning insight: 160 agents are legal but insufficient for full 24/7 coverage; estimate is 462.</a:t>
            </a:r>
          </a:p>
        </p:txBody>
      </p:sp>
      <p:pic>
        <p:nvPicPr>
          <p:cNvPr id="10" name="05_scheduling_cover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50000" y="1685000"/>
            <a:ext cx="5760000" cy="4320000"/>
          </a:xfrm>
          <a:prstGeom prst="rect">
            <a:avLst/>
          </a:prstGeom>
        </p:spPr>
      </p:pic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Validation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5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SQL row counts reconcile from raw table to fact table and dashboard views.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Forecasting models are compared on a 90-day holdout period.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Schedule validation shows zero daily-shift, weekly-limit and rest violations.</a:t>
            </a:r>
          </a:p>
          <a:p>
            <a:pPr marL="285750" indent="-171450">
              <a:buChar char="•"/>
            </a:pPr>
            <a:r>
              <a:rPr lang="uk-UA" sz="1680" dirty="0">
                <a:solidFill>
                  <a:srgbClr val="263244"/>
                </a:solidFill>
                <a:latin typeface="Aptos"/>
                <a:cs typeface="Aptos"/>
              </a:rPr>
              <a:t>Automated tests: 13 passed; public dashboard smoke test passed.</a:t>
            </a:r>
          </a:p>
        </p:txBody>
      </p:sp>
      <p:pic>
        <p:nvPicPr>
          <p:cNvPr id="10" name="07_methodology_valida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50000" y="1685000"/>
            <a:ext cx="5760000" cy="4320000"/>
          </a:xfrm>
          <a:prstGeom prst="rect">
            <a:avLst/>
          </a:prstGeom>
        </p:spPr>
      </p:pic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Public portfolio deployment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Public URL: https://wfm.vartsab.com:8443.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Docker Compose runs PostgreSQL, Streamlit and Caddy on a small VPS.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Caddy provides HTTPS on port 8443 while the existing VPN keeps port 443.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The deployed dashboard uses compact Postgres seed tables and a simple password gate.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Why this is an engineering project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The project does not claim to invent WFM as a new market category.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Its novelty is the transparent, reproducible, open-data implementation of an enterprise WFM workflow.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Academic value: every layer can be inspected, changed, evaluated and extended.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Market relevance: commercial WFM suites solve the same real operational problem.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Limitations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311 records are public-service demand records, not guaranteed calls.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Operational call-center fields are synthetic and must be presented as assumptions.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Skill-based routing is not yet enforced in the schedule optimizer.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The public VPS demo uses compact seed tables, not the full SQL Server warehouse.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Future work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Compare Erlang C with Erlang A and discrete-event simulation.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Add intraday re-forecasting and scenario controls.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Extend the optimizer to multi-skill scheduling and agent preferences.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Optional productization: MLflow tracking, managed database, monitoring and backups.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20000" y="320000"/>
            <a:ext cx="12000000" cy="6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uk-UA" sz="3100" dirty="0">
                <a:b/>
                <a:solidFill>
                  <a:srgbClr val="111827"/>
                </a:solidFill>
                <a:latin typeface="Aptos"/>
                <a:cs typeface="Aptos"/>
              </a:rPr>
              <a:t>Conclusion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620000" y="1090000"/>
            <a:ext cx="11950000" cy="49500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The project demonstrates a complete path from public demand data to workforce planning decisions.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Implemented layers: SQL warehouse, dashboard, forecasting, staffing and schedule optimization.</a:t>
            </a:r>
          </a:p>
          <a:p>
            <a:pPr marL="285750" indent="-171450">
              <a:buChar char="•"/>
            </a:pPr>
            <a:r>
              <a:rPr lang="uk-UA" sz="1900" dirty="0">
                <a:solidFill>
                  <a:srgbClr val="263244"/>
                </a:solidFill>
                <a:latin typeface="Aptos"/>
                <a:cs typeface="Aptos"/>
              </a:rPr>
              <a:t>The result is a working analytical product, public portfolio demo and defensible capstone engineering artifact.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11880000" y="7050000"/>
            <a:ext cx="8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lang="uk-UA" sz="1150" dirty="0">
                <a:solidFill>
                  <a:srgbClr val="9ca3af"/>
                </a:solidFill>
                <a:latin typeface="Aptos"/>
                <a:cs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l Center WFM">
  <a:themeElements>
    <a:clrScheme name="WFM">
      <a:dk1>
        <a:srgbClr val="111827"/>
      </a:dk1>
      <a:lt1>
        <a:srgbClr val="FFFFFF"/>
      </a:lt1>
      <a:dk2>
        <a:srgbClr val="263244"/>
      </a:dk2>
      <a:lt2>
        <a:srgbClr val="F3F4F6"/>
      </a:lt2>
      <a:accent1>
        <a:srgbClr val="2563EB"/>
      </a:accent1>
      <a:accent2>
        <a:srgbClr val="DC2626"/>
      </a:accent2>
      <a:accent3>
        <a:srgbClr val="059669"/>
      </a:accent3>
      <a:accent4>
        <a:srgbClr val="7C3AED"/>
      </a:accent4>
      <a:accent5>
        <a:srgbClr val="EA580C"/>
      </a:accent5>
      <a:accent6>
        <a:srgbClr val="0891B2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Standard Library</Application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Call Center Workforce Optimization Presentation</dc:title>
  <dc:creator>Denys Vartsab</dc:creator>
  <dcterms:created xsi:type="dcterms:W3CDTF">2026-05-21T03:46:27Z</dcterms:created>
  <dcterms:modified xsi:type="dcterms:W3CDTF">2026-05-21T03:46:27Z</dcterms:modified>
</cp:coreProperties>
</file>