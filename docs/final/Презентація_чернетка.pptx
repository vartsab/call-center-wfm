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3333333" cy="7500000" type="wide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620000" y="320000"/>
            <a:ext cx="12000000" cy="62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lang="uk-UA" sz="3100" dirty="0">
                <a:b/>
                <a:solidFill>
                  <a:srgbClr val="111827"/>
                </a:solidFill>
                <a:latin typeface="Aptos"/>
                <a:cs typeface="Aptos"/>
              </a:rPr>
              <a:t>Call Center Analytics and Workforce Optimization</a:t>
            </a:r>
          </a:p>
        </p:txBody>
      </p:sp>
      <p:sp>
        <p:nvSpPr>
          <p:cNvPr id="2" name="Text"/>
          <p:cNvSpPr txBox="1"/>
          <p:nvPr/>
        </p:nvSpPr>
        <p:spPr>
          <a:xfrm>
            <a:off x="620000" y="940000"/>
            <a:ext cx="12000000" cy="38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lang="uk-UA" sz="1750" dirty="0">
                <a:solidFill>
                  <a:srgbClr val="dc2626"/>
                </a:solidFill>
                <a:latin typeface="Aptos"/>
                <a:cs typeface="Aptos"/>
              </a:rPr>
              <a:t>Магістерський інженерний проєкт</a:t>
            </a:r>
          </a:p>
        </p:txBody>
      </p:sp>
      <p:sp>
        <p:nvSpPr>
          <p:cNvPr id="3" name="Bullets"/>
          <p:cNvSpPr txBox="1"/>
          <p:nvPr/>
        </p:nvSpPr>
        <p:spPr>
          <a:xfrm>
            <a:off x="620000" y="1470000"/>
            <a:ext cx="11950000" cy="495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City service contact center analytics</a:t>
            </a:r>
          </a:p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SQL Server warehouse, Streamlit dashboard, forecasting, Erlang C, OR-Tools scheduling</a:t>
            </a:r>
          </a:p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Public NYC 311 demand data plus documented synthetic operational metadata</a:t>
            </a:r>
          </a:p>
        </p:txBody>
      </p:sp>
      <p:sp>
        <p:nvSpPr>
          <p:cNvPr id="2" name="Text"/>
          <p:cNvSpPr txBox="1"/>
          <p:nvPr/>
        </p:nvSpPr>
        <p:spPr>
          <a:xfrm>
            <a:off x="620000" y="6520000"/>
            <a:ext cx="12000000" cy="35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lang="uk-UA" sz="1450" dirty="0">
                <a:solidFill>
                  <a:srgbClr val="6b7280"/>
                </a:solidFill>
                <a:latin typeface="Aptos"/>
                <a:cs typeface="Aptos"/>
              </a:rPr>
              <a:t>Denys Vartsab | Master of Science in Data Science | 2026</a:t>
            </a:r>
          </a:p>
        </p:txBody>
      </p:sp>
      <p:sp>
        <p:nvSpPr>
          <p:cNvPr id="2" name="Text"/>
          <p:cNvSpPr txBox="1"/>
          <p:nvPr/>
        </p:nvSpPr>
        <p:spPr>
          <a:xfrm>
            <a:off x="11880000" y="7050000"/>
            <a:ext cx="820000" cy="2400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lang="uk-UA" sz="1150" dirty="0">
                <a:solidFill>
                  <a:srgbClr val="9ca3af"/>
                </a:solidFill>
                <a:latin typeface="Aptos"/>
                <a:cs typeface="Apto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620000" y="320000"/>
            <a:ext cx="12000000" cy="62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lang="uk-UA" sz="3100" dirty="0">
                <a:b/>
                <a:solidFill>
                  <a:srgbClr val="111827"/>
                </a:solidFill>
                <a:latin typeface="Aptos"/>
                <a:cs typeface="Aptos"/>
              </a:rPr>
              <a:t>Проблема</a:t>
            </a:r>
          </a:p>
        </p:txBody>
      </p:sp>
      <p:sp>
        <p:nvSpPr>
          <p:cNvPr id="3" name="Bullets"/>
          <p:cNvSpPr txBox="1"/>
          <p:nvPr/>
        </p:nvSpPr>
        <p:spPr>
          <a:xfrm>
            <a:off x="620000" y="1090000"/>
            <a:ext cx="11950000" cy="495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Попит у contact center змінюється за часом доби, днем тижня, сезоном і категорією звернення.</a:t>
            </a:r>
          </a:p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Недостатній staffing знижує service level і збільшує abandonment.</a:t>
            </a:r>
          </a:p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Надмірний staffing створює зайві labor costs.</a:t>
            </a:r>
          </a:p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Потрібне interval-level planning, а не тільки історичний dashboard.</a:t>
            </a:r>
          </a:p>
        </p:txBody>
      </p:sp>
      <p:sp>
        <p:nvSpPr>
          <p:cNvPr id="2" name="Text"/>
          <p:cNvSpPr txBox="1"/>
          <p:nvPr/>
        </p:nvSpPr>
        <p:spPr>
          <a:xfrm>
            <a:off x="11880000" y="7050000"/>
            <a:ext cx="820000" cy="2400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lang="uk-UA" sz="1150" dirty="0">
                <a:solidFill>
                  <a:srgbClr val="9ca3af"/>
                </a:solidFill>
                <a:latin typeface="Aptos"/>
                <a:cs typeface="Apto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620000" y="320000"/>
            <a:ext cx="12000000" cy="62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lang="uk-UA" sz="3100" dirty="0">
                <a:b/>
                <a:solidFill>
                  <a:srgbClr val="111827"/>
                </a:solidFill>
                <a:latin typeface="Aptos"/>
                <a:cs typeface="Aptos"/>
              </a:rPr>
              <a:t>Мета продукту</a:t>
            </a:r>
          </a:p>
        </p:txBody>
      </p:sp>
      <p:sp>
        <p:nvSpPr>
          <p:cNvPr id="3" name="Bullets"/>
          <p:cNvSpPr txBox="1"/>
          <p:nvPr/>
        </p:nvSpPr>
        <p:spPr>
          <a:xfrm>
            <a:off x="620000" y="1090000"/>
            <a:ext cx="11950000" cy="495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Побудувати end-to-end analytical product для workforce planning.</a:t>
            </a:r>
          </a:p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Перетворити public-service demand data на forecast, staffing requirements і schedule.</a:t>
            </a:r>
          </a:p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Зробити pipeline прозорим: data, SQL, model comparison, Erlang C, optimizer, dashboard.</a:t>
            </a:r>
          </a:p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Показати не black-box WFM, а відтворювану engineering implementation.</a:t>
            </a:r>
          </a:p>
        </p:txBody>
      </p:sp>
      <p:sp>
        <p:nvSpPr>
          <p:cNvPr id="2" name="Text"/>
          <p:cNvSpPr txBox="1"/>
          <p:nvPr/>
        </p:nvSpPr>
        <p:spPr>
          <a:xfrm>
            <a:off x="11880000" y="7050000"/>
            <a:ext cx="820000" cy="2400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lang="uk-UA" sz="1150" dirty="0">
                <a:solidFill>
                  <a:srgbClr val="9ca3af"/>
                </a:solidFill>
                <a:latin typeface="Aptos"/>
                <a:cs typeface="Apto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620000" y="320000"/>
            <a:ext cx="12000000" cy="62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lang="uk-UA" sz="3100" dirty="0">
                <a:b/>
                <a:solidFill>
                  <a:srgbClr val="111827"/>
                </a:solidFill>
                <a:latin typeface="Aptos"/>
                <a:cs typeface="Aptos"/>
              </a:rPr>
              <a:t>Дані та synthetic enrichment</a:t>
            </a:r>
          </a:p>
        </p:txBody>
      </p:sp>
      <p:sp>
        <p:nvSpPr>
          <p:cNvPr id="3" name="Bullets"/>
          <p:cNvSpPr txBox="1"/>
          <p:nvPr/>
        </p:nvSpPr>
        <p:spPr>
          <a:xfrm>
            <a:off x="620000" y="1090000"/>
            <a:ext cx="11950000" cy="495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NYC 311 Service Requests, 2023-01-01 to 2025-12-31.</a:t>
            </a:r>
          </a:p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10,336,480 source records loaded into SQL Server.</a:t>
            </a:r>
          </a:p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Public data provides real demand pattern, complaint type, borough, status and timestamps.</a:t>
            </a:r>
          </a:p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Call-center fields such as AHT, hold time, ACW, abandonment, SLA and agent assignment are generated and documented.</a:t>
            </a:r>
          </a:p>
        </p:txBody>
      </p:sp>
      <p:sp>
        <p:nvSpPr>
          <p:cNvPr id="2" name="Text"/>
          <p:cNvSpPr txBox="1"/>
          <p:nvPr/>
        </p:nvSpPr>
        <p:spPr>
          <a:xfrm>
            <a:off x="11880000" y="7050000"/>
            <a:ext cx="820000" cy="2400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lang="uk-UA" sz="1150" dirty="0">
                <a:solidFill>
                  <a:srgbClr val="9ca3af"/>
                </a:solidFill>
                <a:latin typeface="Aptos"/>
                <a:cs typeface="Apto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620000" y="320000"/>
            <a:ext cx="12000000" cy="62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lang="uk-UA" sz="3100" dirty="0">
                <a:b/>
                <a:solidFill>
                  <a:srgbClr val="111827"/>
                </a:solidFill>
                <a:latin typeface="Aptos"/>
                <a:cs typeface="Aptos"/>
              </a:rPr>
              <a:t>Архітектура</a:t>
            </a:r>
          </a:p>
        </p:txBody>
      </p:sp>
      <p:sp>
        <p:nvSpPr>
          <p:cNvPr id="3" name="Bullets"/>
          <p:cNvSpPr txBox="1"/>
          <p:nvPr/>
        </p:nvSpPr>
        <p:spPr>
          <a:xfrm>
            <a:off x="620000" y="1090000"/>
            <a:ext cx="11950000" cy="495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NYC 311 public data -&gt; SQL raw landing table.</a:t>
            </a:r>
          </a:p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Raw table -&gt; synthetic call-center warehouse.</a:t>
            </a:r>
          </a:p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Warehouse -&gt; SQL views -&gt; Streamlit dashboard.</a:t>
            </a:r>
          </a:p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Forecasting -&gt; Erlang C staffing -&gt; OR-Tools schedule optimizer.</a:t>
            </a:r>
          </a:p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The product mirrors enterprise WFM flow, but keeps every step inspectable.</a:t>
            </a:r>
          </a:p>
        </p:txBody>
      </p:sp>
      <p:sp>
        <p:nvSpPr>
          <p:cNvPr id="2" name="Text"/>
          <p:cNvSpPr txBox="1"/>
          <p:nvPr/>
        </p:nvSpPr>
        <p:spPr>
          <a:xfrm>
            <a:off x="11880000" y="7050000"/>
            <a:ext cx="820000" cy="2400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lang="uk-UA" sz="1150" dirty="0">
                <a:solidFill>
                  <a:srgbClr val="9ca3af"/>
                </a:solidFill>
                <a:latin typeface="Aptos"/>
                <a:cs typeface="Apto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620000" y="320000"/>
            <a:ext cx="12000000" cy="62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lang="uk-UA" sz="3100" dirty="0">
                <a:b/>
                <a:solidFill>
                  <a:srgbClr val="111827"/>
                </a:solidFill>
                <a:latin typeface="Aptos"/>
                <a:cs typeface="Aptos"/>
              </a:rPr>
              <a:t>SQL Server warehouse</a:t>
            </a:r>
          </a:p>
        </p:txBody>
      </p:sp>
      <p:sp>
        <p:nvSpPr>
          <p:cNvPr id="3" name="Bullets"/>
          <p:cNvSpPr txBox="1"/>
          <p:nvPr/>
        </p:nvSpPr>
        <p:spPr>
          <a:xfrm>
            <a:off x="620000" y="1090000"/>
            <a:ext cx="11950000" cy="495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Fact_Calls: 10,336,480 simulated calls.</a:t>
            </a:r>
          </a:p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Dim_Date: 1,096 dates; Dim_Time: 48 half-hour intervals.</a:t>
            </a:r>
          </a:p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Dim_Queue: 217 queues; Dim_Agent: 160 synthetic agents.</a:t>
            </a:r>
          </a:p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Dashboard-ready views validate offered, answered and abandoned calls.</a:t>
            </a:r>
          </a:p>
        </p:txBody>
      </p:sp>
      <p:sp>
        <p:nvSpPr>
          <p:cNvPr id="2" name="Text"/>
          <p:cNvSpPr txBox="1"/>
          <p:nvPr/>
        </p:nvSpPr>
        <p:spPr>
          <a:xfrm>
            <a:off x="11880000" y="7050000"/>
            <a:ext cx="820000" cy="2400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lang="uk-UA" sz="1150" dirty="0">
                <a:solidFill>
                  <a:srgbClr val="9ca3af"/>
                </a:solidFill>
                <a:latin typeface="Aptos"/>
                <a:cs typeface="Apto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620000" y="320000"/>
            <a:ext cx="12000000" cy="62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lang="uk-UA" sz="3100" dirty="0">
                <a:b/>
                <a:solidFill>
                  <a:srgbClr val="111827"/>
                </a:solidFill>
                <a:latin typeface="Aptos"/>
                <a:cs typeface="Aptos"/>
              </a:rPr>
              <a:t>Dashboard overview</a:t>
            </a:r>
          </a:p>
        </p:txBody>
      </p:sp>
      <p:sp>
        <p:nvSpPr>
          <p:cNvPr id="3" name="Bullets"/>
          <p:cNvSpPr txBox="1"/>
          <p:nvPr/>
        </p:nvSpPr>
        <p:spPr>
          <a:xfrm>
            <a:off x="620000" y="1090000"/>
            <a:ext cx="5950000" cy="495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uk-UA" sz="1680" dirty="0">
                <a:solidFill>
                  <a:srgbClr val="263244"/>
                </a:solidFill>
                <a:latin typeface="Aptos"/>
                <a:cs typeface="Aptos"/>
              </a:rPr>
              <a:t>Executive KPIs over full 2023-2025 history.</a:t>
            </a:r>
          </a:p>
          <a:p>
            <a:pPr marL="285750" indent="-171450">
              <a:buChar char="•"/>
            </a:pPr>
            <a:r>
              <a:rPr lang="uk-UA" sz="1680" dirty="0">
                <a:solidFill>
                  <a:srgbClr val="263244"/>
                </a:solidFill>
                <a:latin typeface="Aptos"/>
                <a:cs typeface="Aptos"/>
              </a:rPr>
              <a:t>Service category filtering and operational summary.</a:t>
            </a:r>
          </a:p>
          <a:p>
            <a:pPr marL="285750" indent="-171450">
              <a:buChar char="•"/>
            </a:pPr>
            <a:r>
              <a:rPr lang="uk-UA" sz="1680" dirty="0">
                <a:solidFill>
                  <a:srgbClr val="263244"/>
                </a:solidFill>
                <a:latin typeface="Aptos"/>
                <a:cs typeface="Aptos"/>
              </a:rPr>
              <a:t>SQL-backed analytics with CSV fallback for local demo mode.</a:t>
            </a:r>
          </a:p>
        </p:txBody>
      </p:sp>
      <p:pic>
        <p:nvPicPr>
          <p:cNvPr id="10" name="01_executive_summary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950000" y="1685000"/>
            <a:ext cx="5760000" cy="4320000"/>
          </a:xfrm>
          <a:prstGeom prst="rect">
            <a:avLst/>
          </a:prstGeom>
        </p:spPr>
      </p:pic>
      <p:sp>
        <p:nvSpPr>
          <p:cNvPr id="2" name="Text"/>
          <p:cNvSpPr txBox="1"/>
          <p:nvPr/>
        </p:nvSpPr>
        <p:spPr>
          <a:xfrm>
            <a:off x="11880000" y="7050000"/>
            <a:ext cx="820000" cy="2400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lang="uk-UA" sz="1150" dirty="0">
                <a:solidFill>
                  <a:srgbClr val="9ca3af"/>
                </a:solidFill>
                <a:latin typeface="Aptos"/>
                <a:cs typeface="Apto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620000" y="320000"/>
            <a:ext cx="12000000" cy="62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lang="uk-UA" sz="3100" dirty="0">
                <a:b/>
                <a:solidFill>
                  <a:srgbClr val="111827"/>
                </a:solidFill>
                <a:latin typeface="Aptos"/>
                <a:cs typeface="Aptos"/>
              </a:rPr>
              <a:t>Forecasting and model comparison</a:t>
            </a:r>
          </a:p>
        </p:txBody>
      </p:sp>
      <p:sp>
        <p:nvSpPr>
          <p:cNvPr id="3" name="Bullets"/>
          <p:cNvSpPr txBox="1"/>
          <p:nvPr/>
        </p:nvSpPr>
        <p:spPr>
          <a:xfrm>
            <a:off x="620000" y="1090000"/>
            <a:ext cx="5950000" cy="495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uk-UA" sz="1680" dirty="0">
                <a:solidFill>
                  <a:srgbClr val="263244"/>
                </a:solidFill>
                <a:latin typeface="Aptos"/>
                <a:cs typeface="Aptos"/>
              </a:rPr>
              <a:t>Forecast target: 30-minute call volume.</a:t>
            </a:r>
          </a:p>
          <a:p>
            <a:pPr marL="285750" indent="-171450">
              <a:buChar char="•"/>
            </a:pPr>
            <a:r>
              <a:rPr lang="uk-UA" sz="1680" dirty="0">
                <a:solidFill>
                  <a:srgbClr val="263244"/>
                </a:solidFill>
                <a:latin typeface="Aptos"/>
                <a:cs typeface="Aptos"/>
              </a:rPr>
              <a:t>Features: time cycles, calendar fields, weekend, US federal holidays, previous-week lag.</a:t>
            </a:r>
          </a:p>
          <a:p>
            <a:pPr marL="285750" indent="-171450">
              <a:buChar char="•"/>
            </a:pPr>
            <a:r>
              <a:rPr lang="uk-UA" sz="1680" dirty="0">
                <a:solidFill>
                  <a:srgbClr val="263244"/>
                </a:solidFill>
                <a:latin typeface="Aptos"/>
                <a:cs typeface="Aptos"/>
              </a:rPr>
              <a:t>Selected model: histogram gradient boosting.</a:t>
            </a:r>
          </a:p>
          <a:p>
            <a:pPr marL="285750" indent="-171450">
              <a:buChar char="•"/>
            </a:pPr>
            <a:r>
              <a:rPr lang="uk-UA" sz="1680" dirty="0">
                <a:solidFill>
                  <a:srgbClr val="263244"/>
                </a:solidFill>
                <a:latin typeface="Aptos"/>
                <a:cs typeface="Aptos"/>
              </a:rPr>
              <a:t>Holdout metrics: MAE 34.8872, RMSE 49.7414, MAPE 22.16%.</a:t>
            </a:r>
          </a:p>
        </p:txBody>
      </p:sp>
      <p:pic>
        <p:nvPicPr>
          <p:cNvPr id="10" name="03_forecasting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950000" y="1685000"/>
            <a:ext cx="5760000" cy="4320000"/>
          </a:xfrm>
          <a:prstGeom prst="rect">
            <a:avLst/>
          </a:prstGeom>
        </p:spPr>
      </p:pic>
      <p:sp>
        <p:nvSpPr>
          <p:cNvPr id="2" name="Text"/>
          <p:cNvSpPr txBox="1"/>
          <p:nvPr/>
        </p:nvSpPr>
        <p:spPr>
          <a:xfrm>
            <a:off x="11880000" y="7050000"/>
            <a:ext cx="820000" cy="2400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lang="uk-UA" sz="1150" dirty="0">
                <a:solidFill>
                  <a:srgbClr val="9ca3af"/>
                </a:solidFill>
                <a:latin typeface="Aptos"/>
                <a:cs typeface="Apto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620000" y="320000"/>
            <a:ext cx="12000000" cy="62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lang="uk-UA" sz="3100" dirty="0">
                <a:b/>
                <a:solidFill>
                  <a:srgbClr val="111827"/>
                </a:solidFill>
                <a:latin typeface="Aptos"/>
                <a:cs typeface="Aptos"/>
              </a:rPr>
              <a:t>Model-aware planning</a:t>
            </a:r>
          </a:p>
        </p:txBody>
      </p:sp>
      <p:sp>
        <p:nvSpPr>
          <p:cNvPr id="3" name="Bullets"/>
          <p:cNvSpPr txBox="1"/>
          <p:nvPr/>
        </p:nvSpPr>
        <p:spPr>
          <a:xfrm>
            <a:off x="620000" y="1090000"/>
            <a:ext cx="11950000" cy="495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Forecasting models are registered, not hardcoded.</a:t>
            </a:r>
          </a:p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Current models: histogram gradient boosting, random forest, gradient boosting, ridge, Poisson.</a:t>
            </a:r>
          </a:p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Dashboard can compare holdout predictions and future planning scenarios.</a:t>
            </a:r>
          </a:p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Planning pipeline supports model selection: .\scripts\run_planning_pipeline.ps1 -Model random_forest</a:t>
            </a:r>
          </a:p>
        </p:txBody>
      </p:sp>
      <p:sp>
        <p:nvSpPr>
          <p:cNvPr id="2" name="Text"/>
          <p:cNvSpPr txBox="1"/>
          <p:nvPr/>
        </p:nvSpPr>
        <p:spPr>
          <a:xfrm>
            <a:off x="11880000" y="7050000"/>
            <a:ext cx="820000" cy="2400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lang="uk-UA" sz="1150" dirty="0">
                <a:solidFill>
                  <a:srgbClr val="9ca3af"/>
                </a:solidFill>
                <a:latin typeface="Aptos"/>
                <a:cs typeface="Apto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620000" y="320000"/>
            <a:ext cx="12000000" cy="62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lang="uk-UA" sz="3100" dirty="0">
                <a:b/>
                <a:solidFill>
                  <a:srgbClr val="111827"/>
                </a:solidFill>
                <a:latin typeface="Aptos"/>
                <a:cs typeface="Aptos"/>
              </a:rPr>
              <a:t>Staffing with Erlang C</a:t>
            </a:r>
          </a:p>
        </p:txBody>
      </p:sp>
      <p:sp>
        <p:nvSpPr>
          <p:cNvPr id="3" name="Bullets"/>
          <p:cNvSpPr txBox="1"/>
          <p:nvPr/>
        </p:nvSpPr>
        <p:spPr>
          <a:xfrm>
            <a:off x="620000" y="1090000"/>
            <a:ext cx="5950000" cy="495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uk-UA" sz="1680" dirty="0">
                <a:solidFill>
                  <a:srgbClr val="263244"/>
                </a:solidFill>
                <a:latin typeface="Aptos"/>
                <a:cs typeface="Aptos"/>
              </a:rPr>
              <a:t>Forecasted calls and AHT are converted into required agents.</a:t>
            </a:r>
          </a:p>
          <a:p>
            <a:pPr marL="285750" indent="-171450">
              <a:buChar char="•"/>
            </a:pPr>
            <a:r>
              <a:rPr lang="uk-UA" sz="1680" dirty="0">
                <a:solidFill>
                  <a:srgbClr val="263244"/>
                </a:solidFill>
                <a:latin typeface="Aptos"/>
                <a:cs typeface="Aptos"/>
              </a:rPr>
              <a:t>Target service level: 80% answered within 20 seconds.</a:t>
            </a:r>
          </a:p>
          <a:p>
            <a:pPr marL="285750" indent="-171450">
              <a:buChar char="•"/>
            </a:pPr>
            <a:r>
              <a:rPr lang="uk-UA" sz="1680" dirty="0">
                <a:solidFill>
                  <a:srgbClr val="263244"/>
                </a:solidFill>
                <a:latin typeface="Aptos"/>
                <a:cs typeface="Aptos"/>
              </a:rPr>
              <a:t>Max occupancy: 85%; shrinkage: 30%.</a:t>
            </a:r>
          </a:p>
          <a:p>
            <a:pPr marL="285750" indent="-171450">
              <a:buChar char="•"/>
            </a:pPr>
            <a:r>
              <a:rPr lang="uk-UA" sz="1680" dirty="0">
                <a:solidFill>
                  <a:srgbClr val="263244"/>
                </a:solidFill>
                <a:latin typeface="Aptos"/>
                <a:cs typeface="Aptos"/>
              </a:rPr>
              <a:t>Peak shrinkage-adjusted requirement for January 2026: 189 agents.</a:t>
            </a:r>
          </a:p>
        </p:txBody>
      </p:sp>
      <p:pic>
        <p:nvPicPr>
          <p:cNvPr id="10" name="04_staffing_requirements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950000" y="1685000"/>
            <a:ext cx="5760000" cy="4320000"/>
          </a:xfrm>
          <a:prstGeom prst="rect">
            <a:avLst/>
          </a:prstGeom>
        </p:spPr>
      </p:pic>
      <p:sp>
        <p:nvSpPr>
          <p:cNvPr id="2" name="Text"/>
          <p:cNvSpPr txBox="1"/>
          <p:nvPr/>
        </p:nvSpPr>
        <p:spPr>
          <a:xfrm>
            <a:off x="11880000" y="7050000"/>
            <a:ext cx="820000" cy="2400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lang="uk-UA" sz="1150" dirty="0">
                <a:solidFill>
                  <a:srgbClr val="9ca3af"/>
                </a:solidFill>
                <a:latin typeface="Aptos"/>
                <a:cs typeface="Apto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620000" y="320000"/>
            <a:ext cx="12000000" cy="62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lang="uk-UA" sz="3100" dirty="0">
                <a:b/>
                <a:solidFill>
                  <a:srgbClr val="111827"/>
                </a:solidFill>
                <a:latin typeface="Aptos"/>
                <a:cs typeface="Aptos"/>
              </a:rPr>
              <a:t>Schedule optimization</a:t>
            </a:r>
          </a:p>
        </p:txBody>
      </p:sp>
      <p:sp>
        <p:nvSpPr>
          <p:cNvPr id="3" name="Bullets"/>
          <p:cNvSpPr txBox="1"/>
          <p:nvPr/>
        </p:nvSpPr>
        <p:spPr>
          <a:xfrm>
            <a:off x="620000" y="1090000"/>
            <a:ext cx="5950000" cy="495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uk-UA" sz="1680" dirty="0">
                <a:solidFill>
                  <a:srgbClr val="263244"/>
                </a:solidFill>
                <a:latin typeface="Aptos"/>
                <a:cs typeface="Aptos"/>
              </a:rPr>
              <a:t>OR-Tools CP-SAT creates a legal future roster.</a:t>
            </a:r>
          </a:p>
          <a:p>
            <a:pPr marL="285750" indent="-171450">
              <a:buChar char="•"/>
            </a:pPr>
            <a:r>
              <a:rPr lang="uk-UA" sz="1680" dirty="0">
                <a:solidFill>
                  <a:srgbClr val="263244"/>
                </a:solidFill>
                <a:latin typeface="Aptos"/>
                <a:cs typeface="Aptos"/>
              </a:rPr>
              <a:t>160-agent planning pool, 8-hour shifts, 30-minute break.</a:t>
            </a:r>
          </a:p>
          <a:p>
            <a:pPr marL="285750" indent="-171450">
              <a:buChar char="•"/>
            </a:pPr>
            <a:r>
              <a:rPr lang="uk-UA" sz="1680" dirty="0">
                <a:solidFill>
                  <a:srgbClr val="263244"/>
                </a:solidFill>
                <a:latin typeface="Aptos"/>
                <a:cs typeface="Aptos"/>
              </a:rPr>
              <a:t>Rules: one shift per day, max 5 shifts per week, 11-hour minimum rest.</a:t>
            </a:r>
          </a:p>
          <a:p>
            <a:pPr marL="285750" indent="-171450">
              <a:buChar char="•"/>
            </a:pPr>
            <a:r>
              <a:rPr lang="uk-UA" sz="1680" dirty="0">
                <a:solidFill>
                  <a:srgbClr val="263244"/>
                </a:solidFill>
                <a:latin typeface="Aptos"/>
                <a:cs typeface="Aptos"/>
              </a:rPr>
              <a:t>Planning insight: 160 agents are legal but insufficient for full 24/7 coverage; estimate is 462.</a:t>
            </a:r>
          </a:p>
        </p:txBody>
      </p:sp>
      <p:pic>
        <p:nvPicPr>
          <p:cNvPr id="10" name="05_scheduling_coverage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950000" y="1685000"/>
            <a:ext cx="5760000" cy="4320000"/>
          </a:xfrm>
          <a:prstGeom prst="rect">
            <a:avLst/>
          </a:prstGeom>
        </p:spPr>
      </p:pic>
      <p:sp>
        <p:nvSpPr>
          <p:cNvPr id="2" name="Text"/>
          <p:cNvSpPr txBox="1"/>
          <p:nvPr/>
        </p:nvSpPr>
        <p:spPr>
          <a:xfrm>
            <a:off x="11880000" y="7050000"/>
            <a:ext cx="820000" cy="2400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lang="uk-UA" sz="1150" dirty="0">
                <a:solidFill>
                  <a:srgbClr val="9ca3af"/>
                </a:solidFill>
                <a:latin typeface="Aptos"/>
                <a:cs typeface="Apto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620000" y="320000"/>
            <a:ext cx="12000000" cy="62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lang="uk-UA" sz="3100" dirty="0">
                <a:b/>
                <a:solidFill>
                  <a:srgbClr val="111827"/>
                </a:solidFill>
                <a:latin typeface="Aptos"/>
                <a:cs typeface="Aptos"/>
              </a:rPr>
              <a:t>Validation</a:t>
            </a:r>
          </a:p>
        </p:txBody>
      </p:sp>
      <p:sp>
        <p:nvSpPr>
          <p:cNvPr id="3" name="Bullets"/>
          <p:cNvSpPr txBox="1"/>
          <p:nvPr/>
        </p:nvSpPr>
        <p:spPr>
          <a:xfrm>
            <a:off x="620000" y="1090000"/>
            <a:ext cx="5950000" cy="495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uk-UA" sz="1680" dirty="0">
                <a:solidFill>
                  <a:srgbClr val="263244"/>
                </a:solidFill>
                <a:latin typeface="Aptos"/>
                <a:cs typeface="Aptos"/>
              </a:rPr>
              <a:t>SQL row counts reconcile from raw table to fact table and dashboard views.</a:t>
            </a:r>
          </a:p>
          <a:p>
            <a:pPr marL="285750" indent="-171450">
              <a:buChar char="•"/>
            </a:pPr>
            <a:r>
              <a:rPr lang="uk-UA" sz="1680" dirty="0">
                <a:solidFill>
                  <a:srgbClr val="263244"/>
                </a:solidFill>
                <a:latin typeface="Aptos"/>
                <a:cs typeface="Aptos"/>
              </a:rPr>
              <a:t>Forecasting models are compared on a 90-day holdout period.</a:t>
            </a:r>
          </a:p>
          <a:p>
            <a:pPr marL="285750" indent="-171450">
              <a:buChar char="•"/>
            </a:pPr>
            <a:r>
              <a:rPr lang="uk-UA" sz="1680" dirty="0">
                <a:solidFill>
                  <a:srgbClr val="263244"/>
                </a:solidFill>
                <a:latin typeface="Aptos"/>
                <a:cs typeface="Aptos"/>
              </a:rPr>
              <a:t>Schedule validation shows zero daily-shift, weekly-limit and rest violations.</a:t>
            </a:r>
          </a:p>
          <a:p>
            <a:pPr marL="285750" indent="-171450">
              <a:buChar char="•"/>
            </a:pPr>
            <a:r>
              <a:rPr lang="uk-UA" sz="1680" dirty="0">
                <a:solidFill>
                  <a:srgbClr val="263244"/>
                </a:solidFill>
                <a:latin typeface="Aptos"/>
                <a:cs typeface="Aptos"/>
              </a:rPr>
              <a:t>Automated tests: 10 passed.</a:t>
            </a:r>
          </a:p>
        </p:txBody>
      </p:sp>
      <p:pic>
        <p:nvPicPr>
          <p:cNvPr id="10" name="07_methodology_validation.png"/>
          <p:cNvPicPr/>
          <p:nvPr/>
        </p:nvPicPr>
        <p:blipFill>
          <a:blip r:embed="rId2"/>
          <a:stretch>
            <a:fillRect/>
          </a:stretch>
        </p:blipFill>
        <p:spPr>
          <a:xfrm>
            <a:off x="6950000" y="1685000"/>
            <a:ext cx="5760000" cy="4320000"/>
          </a:xfrm>
          <a:prstGeom prst="rect">
            <a:avLst/>
          </a:prstGeom>
        </p:spPr>
      </p:pic>
      <p:sp>
        <p:nvSpPr>
          <p:cNvPr id="2" name="Text"/>
          <p:cNvSpPr txBox="1"/>
          <p:nvPr/>
        </p:nvSpPr>
        <p:spPr>
          <a:xfrm>
            <a:off x="11880000" y="7050000"/>
            <a:ext cx="820000" cy="2400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lang="uk-UA" sz="1150" dirty="0">
                <a:solidFill>
                  <a:srgbClr val="9ca3af"/>
                </a:solidFill>
                <a:latin typeface="Aptos"/>
                <a:cs typeface="Apto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620000" y="320000"/>
            <a:ext cx="12000000" cy="62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lang="uk-UA" sz="3100" dirty="0">
                <a:b/>
                <a:solidFill>
                  <a:srgbClr val="111827"/>
                </a:solidFill>
                <a:latin typeface="Aptos"/>
                <a:cs typeface="Aptos"/>
              </a:rPr>
              <a:t>Why this is an engineering project</a:t>
            </a:r>
          </a:p>
        </p:txBody>
      </p:sp>
      <p:sp>
        <p:nvSpPr>
          <p:cNvPr id="3" name="Bullets"/>
          <p:cNvSpPr txBox="1"/>
          <p:nvPr/>
        </p:nvSpPr>
        <p:spPr>
          <a:xfrm>
            <a:off x="620000" y="1090000"/>
            <a:ext cx="11950000" cy="495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The project does not claim to invent WFM as a new market category.</a:t>
            </a:r>
          </a:p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Its novelty is the transparent, reproducible, open-data implementation of an enterprise WFM workflow.</a:t>
            </a:r>
          </a:p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Academic value: every layer can be inspected, changed, evaluated and extended.</a:t>
            </a:r>
          </a:p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Market relevance: commercial WFM suites solve the same real operational problem.</a:t>
            </a:r>
          </a:p>
        </p:txBody>
      </p:sp>
      <p:sp>
        <p:nvSpPr>
          <p:cNvPr id="2" name="Text"/>
          <p:cNvSpPr txBox="1"/>
          <p:nvPr/>
        </p:nvSpPr>
        <p:spPr>
          <a:xfrm>
            <a:off x="11880000" y="7050000"/>
            <a:ext cx="820000" cy="2400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lang="uk-UA" sz="1150" dirty="0">
                <a:solidFill>
                  <a:srgbClr val="9ca3af"/>
                </a:solidFill>
                <a:latin typeface="Aptos"/>
                <a:cs typeface="Apto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620000" y="320000"/>
            <a:ext cx="12000000" cy="62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lang="uk-UA" sz="3100" dirty="0">
                <a:b/>
                <a:solidFill>
                  <a:srgbClr val="111827"/>
                </a:solidFill>
                <a:latin typeface="Aptos"/>
                <a:cs typeface="Aptos"/>
              </a:rPr>
              <a:t>Limitations</a:t>
            </a:r>
          </a:p>
        </p:txBody>
      </p:sp>
      <p:sp>
        <p:nvSpPr>
          <p:cNvPr id="3" name="Bullets"/>
          <p:cNvSpPr txBox="1"/>
          <p:nvPr/>
        </p:nvSpPr>
        <p:spPr>
          <a:xfrm>
            <a:off x="620000" y="1090000"/>
            <a:ext cx="11950000" cy="495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311 records are public-service demand records, not guaranteed calls.</a:t>
            </a:r>
          </a:p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Operational call-center fields are synthetic and must be presented as assumptions.</a:t>
            </a:r>
          </a:p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Skill-based routing is not yet enforced in the schedule optimizer.</a:t>
            </a:r>
          </a:p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The current SQL Server demo is local rather than cloud-hosted.</a:t>
            </a:r>
          </a:p>
        </p:txBody>
      </p:sp>
      <p:sp>
        <p:nvSpPr>
          <p:cNvPr id="2" name="Text"/>
          <p:cNvSpPr txBox="1"/>
          <p:nvPr/>
        </p:nvSpPr>
        <p:spPr>
          <a:xfrm>
            <a:off x="11880000" y="7050000"/>
            <a:ext cx="820000" cy="2400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lang="uk-UA" sz="1150" dirty="0">
                <a:solidFill>
                  <a:srgbClr val="9ca3af"/>
                </a:solidFill>
                <a:latin typeface="Aptos"/>
                <a:cs typeface="Apto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620000" y="320000"/>
            <a:ext cx="12000000" cy="62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lang="uk-UA" sz="3100" dirty="0">
                <a:b/>
                <a:solidFill>
                  <a:srgbClr val="111827"/>
                </a:solidFill>
                <a:latin typeface="Aptos"/>
                <a:cs typeface="Aptos"/>
              </a:rPr>
              <a:t>Future work</a:t>
            </a:r>
          </a:p>
        </p:txBody>
      </p:sp>
      <p:sp>
        <p:nvSpPr>
          <p:cNvPr id="3" name="Bullets"/>
          <p:cNvSpPr txBox="1"/>
          <p:nvPr/>
        </p:nvSpPr>
        <p:spPr>
          <a:xfrm>
            <a:off x="620000" y="1090000"/>
            <a:ext cx="11950000" cy="495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Compare Erlang C with Erlang A and discrete-event simulation.</a:t>
            </a:r>
          </a:p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Add intraday re-forecasting and scenario controls.</a:t>
            </a:r>
          </a:p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Extend the optimizer to multi-skill scheduling and agent preferences.</a:t>
            </a:r>
          </a:p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Optional productization: MLflow tracking and portable/cloud-friendly deployment.</a:t>
            </a:r>
          </a:p>
        </p:txBody>
      </p:sp>
      <p:sp>
        <p:nvSpPr>
          <p:cNvPr id="2" name="Text"/>
          <p:cNvSpPr txBox="1"/>
          <p:nvPr/>
        </p:nvSpPr>
        <p:spPr>
          <a:xfrm>
            <a:off x="11880000" y="7050000"/>
            <a:ext cx="820000" cy="2400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lang="uk-UA" sz="1150" dirty="0">
                <a:solidFill>
                  <a:srgbClr val="9ca3af"/>
                </a:solidFill>
                <a:latin typeface="Aptos"/>
                <a:cs typeface="Apto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 txBox="1"/>
          <p:nvPr/>
        </p:nvSpPr>
        <p:spPr>
          <a:xfrm>
            <a:off x="620000" y="320000"/>
            <a:ext cx="12000000" cy="62000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lang="uk-UA" sz="3100" dirty="0">
                <a:b/>
                <a:solidFill>
                  <a:srgbClr val="111827"/>
                </a:solidFill>
                <a:latin typeface="Aptos"/>
                <a:cs typeface="Aptos"/>
              </a:rPr>
              <a:t>Conclusion</a:t>
            </a:r>
          </a:p>
        </p:txBody>
      </p:sp>
      <p:sp>
        <p:nvSpPr>
          <p:cNvPr id="3" name="Bullets"/>
          <p:cNvSpPr txBox="1"/>
          <p:nvPr/>
        </p:nvSpPr>
        <p:spPr>
          <a:xfrm>
            <a:off x="620000" y="1090000"/>
            <a:ext cx="11950000" cy="4950000"/>
          </a:xfrm>
          <a:prstGeom prst="rect">
            <a:avLst/>
          </a:prstGeom>
          <a:noFill/>
        </p:spPr>
        <p:txBody>
          <a:bodyPr wrap="square"/>
          <a:lstStyle/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The project demonstrates a complete path from public demand data to workforce planning decisions.</a:t>
            </a:r>
          </a:p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Implemented layers: SQL warehouse, dashboard, forecasting, staffing and schedule optimization.</a:t>
            </a:r>
          </a:p>
          <a:p>
            <a:pPr marL="285750" indent="-171450">
              <a:buChar char="•"/>
            </a:pPr>
            <a:r>
              <a:rPr lang="uk-UA" sz="1900" dirty="0">
                <a:solidFill>
                  <a:srgbClr val="263244"/>
                </a:solidFill>
                <a:latin typeface="Aptos"/>
                <a:cs typeface="Aptos"/>
              </a:rPr>
              <a:t>The result is a working local analytical product and a defensible capstone engineering artifact.</a:t>
            </a:r>
          </a:p>
        </p:txBody>
      </p:sp>
      <p:sp>
        <p:nvSpPr>
          <p:cNvPr id="2" name="Text"/>
          <p:cNvSpPr txBox="1"/>
          <p:nvPr/>
        </p:nvSpPr>
        <p:spPr>
          <a:xfrm>
            <a:off x="11880000" y="7050000"/>
            <a:ext cx="820000" cy="24000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lang="uk-UA" sz="1150" dirty="0">
                <a:solidFill>
                  <a:srgbClr val="9ca3af"/>
                </a:solidFill>
                <a:latin typeface="Aptos"/>
                <a:cs typeface="Aptos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ll Center WFM">
  <a:themeElements>
    <a:clrScheme name="WFM">
      <a:dk1>
        <a:srgbClr val="111827"/>
      </a:dk1>
      <a:lt1>
        <a:srgbClr val="FFFFFF"/>
      </a:lt1>
      <a:dk2>
        <a:srgbClr val="263244"/>
      </a:dk2>
      <a:lt2>
        <a:srgbClr val="F3F4F6"/>
      </a:lt2>
      <a:accent1>
        <a:srgbClr val="2563EB"/>
      </a:accent1>
      <a:accent2>
        <a:srgbClr val="DC2626"/>
      </a:accent2>
      <a:accent3>
        <a:srgbClr val="059669"/>
      </a:accent3>
      <a:accent4>
        <a:srgbClr val="7C3AED"/>
      </a:accent4>
      <a:accent5>
        <a:srgbClr val="EA580C"/>
      </a:accent5>
      <a:accent6>
        <a:srgbClr val="0891B2"/>
      </a:accent6>
      <a:hlink>
        <a:srgbClr val="2563EB"/>
      </a:hlink>
      <a:folHlink>
        <a:srgbClr val="7C3AED"/>
      </a:folHlink>
    </a:clrScheme>
    <a:fontScheme name="Aptos">
      <a:majorFont>
        <a:latin typeface="Aptos Display"/>
      </a:majorFont>
      <a:minorFont>
        <a:latin typeface="Aptos"/>
      </a:minorFont>
    </a:fontScheme>
    <a:fmtScheme name="Default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Python Standard Library</Application>
  <Slides>16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Call Center Workforce Optimization Presentation</dc:title>
  <dc:creator>Denys Vartsab</dc:creator>
  <dcterms:created xsi:type="dcterms:W3CDTF">2026-05-20T18:47:25Z</dcterms:created>
  <dcterms:modified xsi:type="dcterms:W3CDTF">2026-05-20T18:47:25Z</dcterms:modified>
</cp:coreProperties>
</file>